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Total rentals by hour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</c:spPr>
          <c:invertIfNegative val="0"/>
          <c:dPt>
            <c:idx val="0"/>
            <c:spPr>
              <a:solidFill>
                <a:srgbClr val="3e6595"/>
              </a:solidFill>
              <a:ln>
                <a:noFill/>
              </a:ln>
            </c:spPr>
          </c:dPt>
          <c:dPt>
            <c:idx val="1"/>
            <c:spPr>
              <a:solidFill>
                <a:srgbClr val="973f3c"/>
              </a:solidFill>
              <a:ln>
                <a:noFill/>
              </a:ln>
            </c:spPr>
          </c:dPt>
          <c:dPt>
            <c:idx val="2"/>
            <c:spPr>
              <a:solidFill>
                <a:srgbClr val="7a9346"/>
              </a:solidFill>
              <a:ln>
                <a:noFill/>
              </a:ln>
            </c:spPr>
          </c:dPt>
          <c:dPt>
            <c:idx val="3"/>
            <c:spPr>
              <a:solidFill>
                <a:srgbClr val="654e7f"/>
              </a:solidFill>
              <a:ln>
                <a:noFill/>
              </a:ln>
            </c:spPr>
          </c:dPt>
          <c:dPt>
            <c:idx val="4"/>
            <c:spPr>
              <a:solidFill>
                <a:srgbClr val="3b879c"/>
              </a:solidFill>
              <a:ln>
                <a:noFill/>
              </a:ln>
            </c:spPr>
          </c:dPt>
          <c:dPt>
            <c:idx val="5"/>
            <c:spPr>
              <a:solidFill>
                <a:srgbClr val="c27637"/>
              </a:solidFill>
              <a:ln>
                <a:noFill/>
              </a:ln>
            </c:spPr>
          </c:dPt>
          <c:dPt>
            <c:idx val="6"/>
            <c:spPr>
              <a:solidFill>
                <a:srgbClr val="4978b1"/>
              </a:solidFill>
              <a:ln>
                <a:noFill/>
              </a:ln>
            </c:spPr>
          </c:dPt>
          <c:dPt>
            <c:idx val="7"/>
            <c:spPr>
              <a:solidFill>
                <a:srgbClr val="b34a48"/>
              </a:solidFill>
              <a:ln>
                <a:noFill/>
              </a:ln>
            </c:spPr>
          </c:dPt>
          <c:dPt>
            <c:idx val="8"/>
            <c:spPr>
              <a:solidFill>
                <a:srgbClr val="91af53"/>
              </a:solidFill>
              <a:ln>
                <a:noFill/>
              </a:ln>
            </c:spPr>
          </c:dPt>
          <c:dPt>
            <c:idx val="9"/>
            <c:spPr>
              <a:solidFill>
                <a:srgbClr val="775d97"/>
              </a:solidFill>
              <a:ln>
                <a:noFill/>
              </a:ln>
            </c:spPr>
          </c:dPt>
          <c:dPt>
            <c:idx val="10"/>
            <c:spPr>
              <a:solidFill>
                <a:srgbClr val="46a1b9"/>
              </a:solidFill>
              <a:ln>
                <a:noFill/>
              </a:ln>
            </c:spPr>
          </c:dPt>
          <c:dPt>
            <c:idx val="11"/>
            <c:spPr>
              <a:solidFill>
                <a:srgbClr val="e78c41"/>
              </a:solidFill>
              <a:ln>
                <a:noFill/>
              </a:ln>
            </c:spPr>
          </c:dPt>
          <c:dPt>
            <c:idx val="12"/>
            <c:spPr>
              <a:solidFill>
                <a:srgbClr val="7e9bc7"/>
              </a:solidFill>
              <a:ln>
                <a:noFill/>
              </a:ln>
            </c:spPr>
          </c:dPt>
          <c:dPt>
            <c:idx val="13"/>
            <c:spPr>
              <a:solidFill>
                <a:srgbClr val="ca7e7d"/>
              </a:solidFill>
              <a:ln>
                <a:noFill/>
              </a:ln>
            </c:spPr>
          </c:dPt>
          <c:dPt>
            <c:idx val="14"/>
            <c:spPr>
              <a:solidFill>
                <a:srgbClr val="adc683"/>
              </a:solidFill>
              <a:ln>
                <a:noFill/>
              </a:ln>
            </c:spPr>
          </c:dPt>
          <c:dPt>
            <c:idx val="15"/>
            <c:spPr>
              <a:solidFill>
                <a:srgbClr val="9a89b2"/>
              </a:solidFill>
              <a:ln>
                <a:noFill/>
              </a:ln>
            </c:spPr>
          </c:dPt>
          <c:dPt>
            <c:idx val="16"/>
            <c:spPr>
              <a:solidFill>
                <a:srgbClr val="7cbacf"/>
              </a:solidFill>
              <a:ln>
                <a:noFill/>
              </a:ln>
            </c:spPr>
          </c:dPt>
          <c:dPt>
            <c:idx val="17"/>
            <c:spPr>
              <a:solidFill>
                <a:srgbClr val="f8aa7a"/>
              </a:solidFill>
              <a:ln>
                <a:noFill/>
              </a:ln>
            </c:spPr>
          </c:dPt>
          <c:dPt>
            <c:idx val="18"/>
            <c:spPr>
              <a:solidFill>
                <a:srgbClr val="b5c3db"/>
              </a:solidFill>
              <a:ln>
                <a:noFill/>
              </a:ln>
            </c:spPr>
          </c:dPt>
          <c:dPt>
            <c:idx val="19"/>
            <c:spPr>
              <a:solidFill>
                <a:srgbClr val="ddb5b5"/>
              </a:solidFill>
              <a:ln>
                <a:noFill/>
              </a:ln>
            </c:spPr>
          </c:dPt>
          <c:dPt>
            <c:idx val="20"/>
            <c:spPr>
              <a:solidFill>
                <a:srgbClr val="ccdab7"/>
              </a:solidFill>
              <a:ln>
                <a:noFill/>
              </a:ln>
            </c:spPr>
          </c:dPt>
          <c:dPt>
            <c:idx val="21"/>
            <c:spPr>
              <a:solidFill>
                <a:srgbClr val="c2bacf"/>
              </a:solidFill>
              <a:ln>
                <a:noFill/>
              </a:ln>
            </c:spPr>
          </c:dPt>
          <c:dPt>
            <c:idx val="22"/>
            <c:spPr>
              <a:solidFill>
                <a:srgbClr val="b5d4e0"/>
              </a:solidFill>
              <a:ln>
                <a:noFill/>
              </a:ln>
            </c:spPr>
          </c:dPt>
          <c:dPt>
            <c:idx val="23"/>
            <c:spPr>
              <a:solidFill>
                <a:srgbClr val="facab4"/>
              </a:solidFill>
              <a:ln>
                <a:noFill/>
              </a:ln>
            </c:spPr>
          </c:dPt>
          <c:dLbls>
            <c:dLbl>
              <c:idx val="0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4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5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6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7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8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9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0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1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2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3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4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5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6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7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8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9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0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1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2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3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0"/>
          </c:dLbls>
          <c:cat>
            <c:strRef>
              <c:f>categories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</c:ser>
        <c:gapWidth val="150"/>
        <c:overlap val="0"/>
        <c:axId val="1952039"/>
        <c:axId val="39901845"/>
      </c:barChart>
      <c:catAx>
        <c:axId val="1952039"/>
        <c:scaling>
          <c:orientation val="minMax"/>
        </c:scaling>
        <c:delete val="0"/>
        <c:axPos val="b"/>
        <c:numFmt formatCode="[$-4009]dd/mm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39901845"/>
        <c:crosses val="autoZero"/>
        <c:auto val="1"/>
        <c:lblAlgn val="ctr"/>
        <c:lblOffset val="100"/>
        <c:noMultiLvlLbl val="0"/>
      </c:catAx>
      <c:valAx>
        <c:axId val="39901845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1952039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Average demand by weather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barChart>
        <c:barDir val="bar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</c:spPr>
          <c:invertIfNegative val="0"/>
          <c:dPt>
            <c:idx val="0"/>
            <c:spPr>
              <a:solidFill>
                <a:srgbClr val="4f81bd"/>
              </a:solidFill>
              <a:ln>
                <a:noFill/>
              </a:ln>
            </c:spPr>
          </c:dPt>
          <c:dPt>
            <c:idx val="1"/>
            <c:spPr>
              <a:solidFill>
                <a:srgbClr val="c0504d"/>
              </a:solidFill>
              <a:ln>
                <a:noFill/>
              </a:ln>
            </c:spPr>
          </c:dPt>
          <c:dPt>
            <c:idx val="2"/>
            <c:spPr>
              <a:solidFill>
                <a:srgbClr val="9bbb59"/>
              </a:solidFill>
              <a:ln>
                <a:noFill/>
              </a:ln>
            </c:spPr>
          </c:dPt>
          <c:dPt>
            <c:idx val="3"/>
            <c:spPr>
              <a:solidFill>
                <a:srgbClr val="8064a2"/>
              </a:solidFill>
              <a:ln>
                <a:noFill/>
              </a:ln>
            </c:spPr>
          </c:dPt>
          <c:dLbls>
            <c:dLbl>
              <c:idx val="0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0"/>
          </c:dLbls>
          <c:cat>
            <c:strRef>
              <c:f>categories</c:f>
              <c:strCache>
                <c:ptCount val="4"/>
                <c:pt idx="0">
                  <c:v>Clear</c:v>
                </c:pt>
                <c:pt idx="1">
                  <c:v>Mist / Cloudy</c:v>
                </c:pt>
                <c:pt idx="2">
                  <c:v>Light Rain / Snow</c:v>
                </c:pt>
                <c:pt idx="3">
                  <c:v>Heavy Rain / Snow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61.6716171617162</c:v>
                </c:pt>
                <c:pt idx="1">
                  <c:v>58.5954692556634</c:v>
                </c:pt>
                <c:pt idx="2">
                  <c:v>33.2023809523809</c:v>
                </c:pt>
                <c:pt idx="3">
                  <c:v>36</c:v>
                </c:pt>
              </c:numCache>
            </c:numRef>
          </c:val>
        </c:ser>
        <c:gapWidth val="150"/>
        <c:overlap val="0"/>
        <c:axId val="68333750"/>
        <c:axId val="69103241"/>
      </c:barChart>
      <c:catAx>
        <c:axId val="68333750"/>
        <c:scaling>
          <c:orientation val="minMax"/>
        </c:scaling>
        <c:delete val="0"/>
        <c:axPos val="b"/>
        <c:numFmt formatCode="[$-4009]dd/mm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69103241"/>
        <c:crosses val="autoZero"/>
        <c:auto val="1"/>
        <c:lblAlgn val="ctr"/>
        <c:lblOffset val="100"/>
        <c:noMultiLvlLbl val="0"/>
      </c:catAx>
      <c:valAx>
        <c:axId val="6910324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68333750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Average demand by season code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</c:spPr>
          <c:invertIfNegative val="0"/>
          <c:dPt>
            <c:idx val="0"/>
            <c:spPr>
              <a:solidFill>
                <a:srgbClr val="4f81bd"/>
              </a:solidFill>
              <a:ln>
                <a:noFill/>
              </a:ln>
            </c:spPr>
          </c:dPt>
          <c:dPt>
            <c:idx val="1"/>
            <c:spPr>
              <a:solidFill>
                <a:srgbClr val="c0504d"/>
              </a:solidFill>
              <a:ln>
                <a:noFill/>
              </a:ln>
            </c:spPr>
          </c:dPt>
          <c:dPt>
            <c:idx val="2"/>
            <c:spPr>
              <a:solidFill>
                <a:srgbClr val="9bbb59"/>
              </a:solidFill>
              <a:ln>
                <a:noFill/>
              </a:ln>
            </c:spPr>
          </c:dPt>
          <c:dPt>
            <c:idx val="3"/>
            <c:spPr>
              <a:solidFill>
                <a:srgbClr val="8064a2"/>
              </a:solidFill>
              <a:ln>
                <a:noFill/>
              </a:ln>
            </c:spPr>
          </c:dPt>
          <c:dLbls>
            <c:dLbl>
              <c:idx val="0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0"/>
          </c:dLbls>
          <c:cat>
            <c:strRef>
              <c:f>categories</c:f>
              <c:strCach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58.304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gapWidth val="150"/>
        <c:overlap val="0"/>
        <c:axId val="32680346"/>
        <c:axId val="92803207"/>
      </c:barChart>
      <c:catAx>
        <c:axId val="32680346"/>
        <c:scaling>
          <c:orientation val="minMax"/>
        </c:scaling>
        <c:delete val="0"/>
        <c:axPos val="b"/>
        <c:numFmt formatCode="[$-4009]dd/mm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92803207"/>
        <c:crosses val="autoZero"/>
        <c:auto val="1"/>
        <c:lblAlgn val="ctr"/>
        <c:lblOffset val="100"/>
        <c:noMultiLvlLbl val="0"/>
      </c:catAx>
      <c:valAx>
        <c:axId val="92803207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32680346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1" sz="2160" spc="-1" strike="noStrike">
                <a:solidFill>
                  <a:srgbClr val="000000"/>
                </a:solidFill>
                <a:latin typeface="Calibri"/>
              </a:defRPr>
            </a:pPr>
            <a:r>
              <a:rPr b="1" sz="2160" spc="-1" strike="noStrike">
                <a:solidFill>
                  <a:srgbClr val="000000"/>
                </a:solidFill>
                <a:latin typeface="Calibri"/>
              </a:rPr>
              <a:t>Average demand by weekday</a:t>
            </a:r>
          </a:p>
        </c:rich>
      </c:tx>
      <c:overlay val="0"/>
      <c:spPr>
        <a:noFill/>
        <a:ln>
          <a:noFill/>
        </a:ln>
      </c:spPr>
    </c:title>
    <c:autoTitleDeleted val="0"/>
    <c:plotArea>
      <c:barChart>
        <c:barDir val="col"/>
        <c:grouping val="clustered"/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Demand</c:v>
                </c:pt>
              </c:strCache>
            </c:strRef>
          </c:tx>
          <c:spPr>
            <a:solidFill>
              <a:srgbClr val="4f81bd"/>
            </a:solidFill>
            <a:ln>
              <a:noFill/>
            </a:ln>
          </c:spPr>
          <c:invertIfNegative val="0"/>
          <c:dPt>
            <c:idx val="0"/>
            <c:spPr>
              <a:solidFill>
                <a:srgbClr val="4672a8"/>
              </a:solidFill>
              <a:ln>
                <a:noFill/>
              </a:ln>
            </c:spPr>
          </c:dPt>
          <c:dPt>
            <c:idx val="1"/>
            <c:spPr>
              <a:solidFill>
                <a:srgbClr val="ab4744"/>
              </a:solidFill>
              <a:ln>
                <a:noFill/>
              </a:ln>
            </c:spPr>
          </c:dPt>
          <c:dPt>
            <c:idx val="2"/>
            <c:spPr>
              <a:solidFill>
                <a:srgbClr val="8aa64f"/>
              </a:solidFill>
              <a:ln>
                <a:noFill/>
              </a:ln>
            </c:spPr>
          </c:dPt>
          <c:dPt>
            <c:idx val="3"/>
            <c:spPr>
              <a:solidFill>
                <a:srgbClr val="725990"/>
              </a:solidFill>
              <a:ln>
                <a:noFill/>
              </a:ln>
            </c:spPr>
          </c:dPt>
          <c:dPt>
            <c:idx val="4"/>
            <c:spPr>
              <a:solidFill>
                <a:srgbClr val="4299b0"/>
              </a:solidFill>
              <a:ln>
                <a:noFill/>
              </a:ln>
            </c:spPr>
          </c:dPt>
          <c:dPt>
            <c:idx val="5"/>
            <c:spPr>
              <a:solidFill>
                <a:srgbClr val="dc853e"/>
              </a:solidFill>
              <a:ln>
                <a:noFill/>
              </a:ln>
            </c:spPr>
          </c:dPt>
          <c:dPt>
            <c:idx val="6"/>
            <c:spPr>
              <a:solidFill>
                <a:srgbClr val="93a9ce"/>
              </a:solidFill>
              <a:ln>
                <a:noFill/>
              </a:ln>
            </c:spPr>
          </c:dPt>
          <c:dLbls>
            <c:dLbl>
              <c:idx val="0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4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5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6"/>
              <c:txPr>
                <a:bodyPr/>
                <a:lstStyle/>
                <a:p>
                  <a:pPr>
                    <a:defRPr b="0" sz="1000" spc="-1" strike="noStrike"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/>
              <a:lstStyle/>
              <a:p>
                <a:pPr>
                  <a:defRPr b="0" sz="1000" spc="-1" strike="noStrike"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0"/>
          </c:dLbls>
          <c:cat>
            <c:strRef>
              <c:f>categories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49.5182926829268</c:v>
                </c:pt>
                <c:pt idx="1">
                  <c:v>56.7114093959732</c:v>
                </c:pt>
                <c:pt idx="2">
                  <c:v>66.007874015748</c:v>
                </c:pt>
                <c:pt idx="3">
                  <c:v>61.4427480916031</c:v>
                </c:pt>
                <c:pt idx="4">
                  <c:v>67.664</c:v>
                </c:pt>
                <c:pt idx="5">
                  <c:v>65.9057971014493</c:v>
                </c:pt>
                <c:pt idx="6">
                  <c:v>46.6746987951807</c:v>
                </c:pt>
              </c:numCache>
            </c:numRef>
          </c:val>
        </c:ser>
        <c:gapWidth val="150"/>
        <c:overlap val="0"/>
        <c:axId val="38208699"/>
        <c:axId val="29997571"/>
      </c:barChart>
      <c:catAx>
        <c:axId val="38208699"/>
        <c:scaling>
          <c:orientation val="minMax"/>
        </c:scaling>
        <c:delete val="0"/>
        <c:axPos val="b"/>
        <c:numFmt formatCode="[$-4009]dd/mm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29997571"/>
        <c:crosses val="autoZero"/>
        <c:auto val="1"/>
        <c:lblAlgn val="ctr"/>
        <c:lblOffset val="100"/>
        <c:noMultiLvlLbl val="0"/>
      </c:catAx>
      <c:valAx>
        <c:axId val="29997571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38208699"/>
        <c:crosses val="autoZero"/>
        <c:crossBetween val="between"/>
      </c:valAx>
      <c:spPr>
        <a:solidFill>
          <a:srgbClr val="ffffff"/>
        </a:solidFill>
        <a:ln>
          <a:noFill/>
        </a:ln>
      </c:spPr>
    </c:plotArea>
    <c:plotVisOnly val="1"/>
    <c:dispBlanksAs val="gap"/>
  </c:chart>
  <c:spPr>
    <a:noFill/>
    <a:ln w="9360">
      <a:solidFill>
        <a:srgbClr val="d9d9d9"/>
      </a:solidFill>
      <a:round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0C6BFBA6-94D6-495A-BB08-5554BA85D854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9/29/26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90750CD6-9C14-4DD1-9FB4-E316A79654B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4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to edit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chart" Target="../charts/chart3.xml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223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CustomShape 2"/>
          <p:cNvSpPr/>
          <p:nvPr/>
        </p:nvSpPr>
        <p:spPr>
          <a:xfrm>
            <a:off x="2358360" y="1143000"/>
            <a:ext cx="14094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73c3be"/>
                </a:solidFill>
                <a:latin typeface="Calibri"/>
              </a:rPr>
              <a:t>BIKE SHARING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3257280" y="1554480"/>
            <a:ext cx="5097600" cy="699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Demand Analysis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44" name="CustomShape 4"/>
          <p:cNvSpPr/>
          <p:nvPr/>
        </p:nvSpPr>
        <p:spPr>
          <a:xfrm>
            <a:off x="2019960" y="5394960"/>
            <a:ext cx="212256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beccd7"/>
                </a:solidFill>
                <a:latin typeface="Calibri"/>
              </a:rPr>
              <a:t>Project Summary  |  2026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45" name="CustomShape 5"/>
          <p:cNvSpPr/>
          <p:nvPr/>
        </p:nvSpPr>
        <p:spPr>
          <a:xfrm>
            <a:off x="4994640" y="6510600"/>
            <a:ext cx="22262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1/15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7" name="CustomShape 2"/>
          <p:cNvSpPr/>
          <p:nvPr/>
        </p:nvSpPr>
        <p:spPr>
          <a:xfrm>
            <a:off x="4761720" y="255960"/>
            <a:ext cx="17233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01 | PROBLEM FRAMING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48" name="CustomShape 3"/>
          <p:cNvSpPr/>
          <p:nvPr/>
        </p:nvSpPr>
        <p:spPr>
          <a:xfrm>
            <a:off x="2015280" y="567000"/>
            <a:ext cx="813024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Business Problem &amp; Analytical Questions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49" name="CustomShape 4"/>
          <p:cNvSpPr/>
          <p:nvPr/>
        </p:nvSpPr>
        <p:spPr>
          <a:xfrm>
            <a:off x="1119240" y="1325880"/>
            <a:ext cx="196704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23827d"/>
                </a:solidFill>
                <a:latin typeface="Calibri"/>
              </a:rPr>
              <a:t>Business problem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0" name="CustomShape 5"/>
          <p:cNvSpPr/>
          <p:nvPr/>
        </p:nvSpPr>
        <p:spPr>
          <a:xfrm>
            <a:off x="6806880" y="1325880"/>
            <a:ext cx="229644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23827d"/>
                </a:solidFill>
                <a:latin typeface="Calibri"/>
              </a:rPr>
              <a:t>Questions addressed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1" name="CustomShape 6"/>
          <p:cNvSpPr/>
          <p:nvPr/>
        </p:nvSpPr>
        <p:spPr>
          <a:xfrm>
            <a:off x="6126480" y="1737360"/>
            <a:ext cx="5028840" cy="209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Which hours generate the greatest demand?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How do weather and season relate to demand?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How does demand differ by weekday, weekend and holiday?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How do casual and registered users contribute?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Can daily demand be forecast and unusual periods flagged?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52" name="CustomShape 7"/>
          <p:cNvSpPr/>
          <p:nvPr/>
        </p:nvSpPr>
        <p:spPr>
          <a:xfrm>
            <a:off x="4994640" y="6510600"/>
            <a:ext cx="22262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2/15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CustomShape 2"/>
          <p:cNvSpPr/>
          <p:nvPr/>
        </p:nvSpPr>
        <p:spPr>
          <a:xfrm>
            <a:off x="4638960" y="255960"/>
            <a:ext cx="196884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02 | DATASET &amp; STRUCTURE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5" name="CustomShape 3"/>
          <p:cNvSpPr/>
          <p:nvPr/>
        </p:nvSpPr>
        <p:spPr>
          <a:xfrm>
            <a:off x="4040640" y="567000"/>
            <a:ext cx="407952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Data Understanding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56" name="CustomShape 4"/>
          <p:cNvSpPr/>
          <p:nvPr/>
        </p:nvSpPr>
        <p:spPr>
          <a:xfrm>
            <a:off x="731520" y="1371600"/>
            <a:ext cx="255996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1,000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Records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final integrated dataset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7" name="CustomShape 5"/>
          <p:cNvSpPr/>
          <p:nvPr/>
        </p:nvSpPr>
        <p:spPr>
          <a:xfrm>
            <a:off x="3566160" y="1371600"/>
            <a:ext cx="255996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16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Variables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analytical fields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8" name="CustomShape 6"/>
          <p:cNvSpPr/>
          <p:nvPr/>
        </p:nvSpPr>
        <p:spPr>
          <a:xfrm>
            <a:off x="6400800" y="1371600"/>
            <a:ext cx="255996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3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Source datasets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combined by instant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59" name="CustomShape 7"/>
          <p:cNvSpPr/>
          <p:nvPr/>
        </p:nvSpPr>
        <p:spPr>
          <a:xfrm>
            <a:off x="9235440" y="1371600"/>
            <a:ext cx="219420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cnt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Target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total rentals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0" name="CustomShape 8"/>
          <p:cNvSpPr/>
          <p:nvPr/>
        </p:nvSpPr>
        <p:spPr>
          <a:xfrm>
            <a:off x="777240" y="3063240"/>
            <a:ext cx="10606680" cy="130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Time and calendar: date, season, year, month, hour, weekday, holiday.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Environment: weather situation, temperature, feels-like temperature, humidity and windspeed.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Users and target: casual, registered and total demand (cnt).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The three sources were integrated on the shared instant identifier.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1" name="CustomShape 9"/>
          <p:cNvSpPr/>
          <p:nvPr/>
        </p:nvSpPr>
        <p:spPr>
          <a:xfrm>
            <a:off x="4994640" y="6510600"/>
            <a:ext cx="22262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3/15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CustomShape 2"/>
          <p:cNvSpPr/>
          <p:nvPr/>
        </p:nvSpPr>
        <p:spPr>
          <a:xfrm>
            <a:off x="4766040" y="255960"/>
            <a:ext cx="17143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03 | DATA ENGINEERING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4" name="CustomShape 3"/>
          <p:cNvSpPr/>
          <p:nvPr/>
        </p:nvSpPr>
        <p:spPr>
          <a:xfrm>
            <a:off x="2305800" y="567000"/>
            <a:ext cx="754956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Data Preparation &amp; Quality Assurance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65" name="CustomShape 4"/>
          <p:cNvSpPr/>
          <p:nvPr/>
        </p:nvSpPr>
        <p:spPr>
          <a:xfrm>
            <a:off x="777240" y="1371600"/>
            <a:ext cx="6400440" cy="242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Standardized the three sources into one 16-field analytical structure.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Checked missing values and duplicate instant identifiers.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Validated the accounting identity: casual + registered = cnt.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Verified instant coverage and sequential record integrity.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Removed temporary fields after validation.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Created derived analytical features for time, weather and demand segments.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66" name="CustomShape 5"/>
          <p:cNvSpPr/>
          <p:nvPr/>
        </p:nvSpPr>
        <p:spPr>
          <a:xfrm>
            <a:off x="7635240" y="1508760"/>
            <a:ext cx="338292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1,000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Records checked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67" name="CustomShape 6"/>
          <p:cNvSpPr/>
          <p:nvPr/>
        </p:nvSpPr>
        <p:spPr>
          <a:xfrm>
            <a:off x="7635240" y="2926080"/>
            <a:ext cx="338292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casual + registered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Core identity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= cnt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8" name="CustomShape 7"/>
          <p:cNvSpPr/>
          <p:nvPr/>
        </p:nvSpPr>
        <p:spPr>
          <a:xfrm>
            <a:off x="7635240" y="4343400"/>
            <a:ext cx="338292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Analysis-ready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Result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validated structure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69" name="CustomShape 8"/>
          <p:cNvSpPr/>
          <p:nvPr/>
        </p:nvSpPr>
        <p:spPr>
          <a:xfrm>
            <a:off x="4994640" y="6510600"/>
            <a:ext cx="22262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4/15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CustomShape 2"/>
          <p:cNvSpPr/>
          <p:nvPr/>
        </p:nvSpPr>
        <p:spPr>
          <a:xfrm>
            <a:off x="4895640" y="255960"/>
            <a:ext cx="14551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04 | METHODOLOGY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72" name="CustomShape 3"/>
          <p:cNvSpPr/>
          <p:nvPr/>
        </p:nvSpPr>
        <p:spPr>
          <a:xfrm>
            <a:off x="3895920" y="567000"/>
            <a:ext cx="436896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Analytical Framework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73" name="CustomShape 4"/>
          <p:cNvSpPr/>
          <p:nvPr/>
        </p:nvSpPr>
        <p:spPr>
          <a:xfrm>
            <a:off x="731520" y="1417320"/>
            <a:ext cx="3291480" cy="150840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CustomShape 5"/>
          <p:cNvSpPr/>
          <p:nvPr/>
        </p:nvSpPr>
        <p:spPr>
          <a:xfrm>
            <a:off x="963720" y="1581840"/>
            <a:ext cx="357840" cy="24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3827d"/>
                </a:solidFill>
                <a:latin typeface="Calibri"/>
              </a:rPr>
              <a:t>01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5" name="CustomShape 6"/>
          <p:cNvSpPr/>
          <p:nvPr/>
        </p:nvSpPr>
        <p:spPr>
          <a:xfrm>
            <a:off x="1724400" y="1947600"/>
            <a:ext cx="112284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42232"/>
                </a:solidFill>
                <a:latin typeface="Calibri"/>
              </a:rPr>
              <a:t>Integrate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6" name="CustomShape 7"/>
          <p:cNvSpPr/>
          <p:nvPr/>
        </p:nvSpPr>
        <p:spPr>
          <a:xfrm>
            <a:off x="1817280" y="2313360"/>
            <a:ext cx="93708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64717d"/>
                </a:solidFill>
                <a:latin typeface="Calibri"/>
              </a:rPr>
              <a:t>Join sources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7" name="CustomShape 8"/>
          <p:cNvSpPr/>
          <p:nvPr/>
        </p:nvSpPr>
        <p:spPr>
          <a:xfrm>
            <a:off x="4480560" y="1417320"/>
            <a:ext cx="3291480" cy="150840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CustomShape 9"/>
          <p:cNvSpPr/>
          <p:nvPr/>
        </p:nvSpPr>
        <p:spPr>
          <a:xfrm>
            <a:off x="4712760" y="1581840"/>
            <a:ext cx="357840" cy="24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3827d"/>
                </a:solidFill>
                <a:latin typeface="Calibri"/>
              </a:rPr>
              <a:t>02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79" name="CustomShape 10"/>
          <p:cNvSpPr/>
          <p:nvPr/>
        </p:nvSpPr>
        <p:spPr>
          <a:xfrm>
            <a:off x="5532120" y="1947600"/>
            <a:ext cx="10054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42232"/>
                </a:solidFill>
                <a:latin typeface="Calibri"/>
              </a:rPr>
              <a:t>Validate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0" name="CustomShape 11"/>
          <p:cNvSpPr/>
          <p:nvPr/>
        </p:nvSpPr>
        <p:spPr>
          <a:xfrm>
            <a:off x="5479560" y="2313360"/>
            <a:ext cx="111060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64717d"/>
                </a:solidFill>
                <a:latin typeface="Calibri"/>
              </a:rPr>
              <a:t>Quality checks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1" name="CustomShape 12"/>
          <p:cNvSpPr/>
          <p:nvPr/>
        </p:nvSpPr>
        <p:spPr>
          <a:xfrm>
            <a:off x="8229600" y="1417320"/>
            <a:ext cx="3291480" cy="150840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CustomShape 13"/>
          <p:cNvSpPr/>
          <p:nvPr/>
        </p:nvSpPr>
        <p:spPr>
          <a:xfrm>
            <a:off x="8461800" y="1581840"/>
            <a:ext cx="357840" cy="24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3827d"/>
                </a:solidFill>
                <a:latin typeface="Calibri"/>
              </a:rPr>
              <a:t>03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3" name="CustomShape 14"/>
          <p:cNvSpPr/>
          <p:nvPr/>
        </p:nvSpPr>
        <p:spPr>
          <a:xfrm>
            <a:off x="9246600" y="1947600"/>
            <a:ext cx="107424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42232"/>
                </a:solidFill>
                <a:latin typeface="Calibri"/>
              </a:rPr>
              <a:t>Engineer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4" name="CustomShape 15"/>
          <p:cNvSpPr/>
          <p:nvPr/>
        </p:nvSpPr>
        <p:spPr>
          <a:xfrm>
            <a:off x="9201600" y="2313360"/>
            <a:ext cx="116424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64717d"/>
                </a:solidFill>
                <a:latin typeface="Calibri"/>
              </a:rPr>
              <a:t>Create features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5" name="CustomShape 16"/>
          <p:cNvSpPr/>
          <p:nvPr/>
        </p:nvSpPr>
        <p:spPr>
          <a:xfrm>
            <a:off x="731520" y="3383280"/>
            <a:ext cx="3291480" cy="150840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6" name="CustomShape 17"/>
          <p:cNvSpPr/>
          <p:nvPr/>
        </p:nvSpPr>
        <p:spPr>
          <a:xfrm>
            <a:off x="963720" y="3547800"/>
            <a:ext cx="357840" cy="24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3827d"/>
                </a:solidFill>
                <a:latin typeface="Calibri"/>
              </a:rPr>
              <a:t>04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7" name="CustomShape 18"/>
          <p:cNvSpPr/>
          <p:nvPr/>
        </p:nvSpPr>
        <p:spPr>
          <a:xfrm>
            <a:off x="1817280" y="3913560"/>
            <a:ext cx="9370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42232"/>
                </a:solidFill>
                <a:latin typeface="Calibri"/>
              </a:rPr>
              <a:t>Explore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8" name="CustomShape 19"/>
          <p:cNvSpPr/>
          <p:nvPr/>
        </p:nvSpPr>
        <p:spPr>
          <a:xfrm>
            <a:off x="1577160" y="4279320"/>
            <a:ext cx="141696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64717d"/>
                </a:solidFill>
                <a:latin typeface="Calibri"/>
              </a:rPr>
              <a:t>Compare segments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89" name="CustomShape 20"/>
          <p:cNvSpPr/>
          <p:nvPr/>
        </p:nvSpPr>
        <p:spPr>
          <a:xfrm>
            <a:off x="4480560" y="3383280"/>
            <a:ext cx="3291480" cy="150840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CustomShape 21"/>
          <p:cNvSpPr/>
          <p:nvPr/>
        </p:nvSpPr>
        <p:spPr>
          <a:xfrm>
            <a:off x="4712760" y="3547800"/>
            <a:ext cx="357840" cy="24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3827d"/>
                </a:solidFill>
                <a:latin typeface="Calibri"/>
              </a:rPr>
              <a:t>05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1" name="CustomShape 22"/>
          <p:cNvSpPr/>
          <p:nvPr/>
        </p:nvSpPr>
        <p:spPr>
          <a:xfrm>
            <a:off x="5512320" y="3913560"/>
            <a:ext cx="104508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42232"/>
                </a:solidFill>
                <a:latin typeface="Calibri"/>
              </a:rPr>
              <a:t>Quantify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2" name="CustomShape 23"/>
          <p:cNvSpPr/>
          <p:nvPr/>
        </p:nvSpPr>
        <p:spPr>
          <a:xfrm>
            <a:off x="5223960" y="4279320"/>
            <a:ext cx="162144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64717d"/>
                </a:solidFill>
                <a:latin typeface="Calibri"/>
              </a:rPr>
              <a:t>Statistics &amp; correlation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3" name="CustomShape 24"/>
          <p:cNvSpPr/>
          <p:nvPr/>
        </p:nvSpPr>
        <p:spPr>
          <a:xfrm>
            <a:off x="8229600" y="3383280"/>
            <a:ext cx="3291480" cy="150840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4" name="CustomShape 25"/>
          <p:cNvSpPr/>
          <p:nvPr/>
        </p:nvSpPr>
        <p:spPr>
          <a:xfrm>
            <a:off x="8461800" y="3547800"/>
            <a:ext cx="357840" cy="241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23827d"/>
                </a:solidFill>
                <a:latin typeface="Calibri"/>
              </a:rPr>
              <a:t>06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5" name="CustomShape 26"/>
          <p:cNvSpPr/>
          <p:nvPr/>
        </p:nvSpPr>
        <p:spPr>
          <a:xfrm>
            <a:off x="9389160" y="3913560"/>
            <a:ext cx="789120" cy="302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142232"/>
                </a:solidFill>
                <a:latin typeface="Calibri"/>
              </a:rPr>
              <a:t>Model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6" name="CustomShape 27"/>
          <p:cNvSpPr/>
          <p:nvPr/>
        </p:nvSpPr>
        <p:spPr>
          <a:xfrm>
            <a:off x="9101160" y="4279320"/>
            <a:ext cx="136512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00" spc="-1" strike="noStrike">
                <a:solidFill>
                  <a:srgbClr val="64717d"/>
                </a:solidFill>
                <a:latin typeface="Calibri"/>
              </a:rPr>
              <a:t>Trend + anomalies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97" name="CustomShape 28"/>
          <p:cNvSpPr/>
          <p:nvPr/>
        </p:nvSpPr>
        <p:spPr>
          <a:xfrm>
            <a:off x="214920" y="5623560"/>
            <a:ext cx="116402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285f87"/>
                </a:solidFill>
                <a:latin typeface="Calibri"/>
              </a:rPr>
              <a:t>The workflow moves from data reliability to structured analysis, then from descriptive patterns to forward-looking signals.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8" name="CustomShape 29"/>
          <p:cNvSpPr/>
          <p:nvPr/>
        </p:nvSpPr>
        <p:spPr>
          <a:xfrm>
            <a:off x="4994640" y="6510600"/>
            <a:ext cx="22262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5/15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0" name="CustomShape 2"/>
          <p:cNvSpPr/>
          <p:nvPr/>
        </p:nvSpPr>
        <p:spPr>
          <a:xfrm>
            <a:off x="4418640" y="255960"/>
            <a:ext cx="24091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05 | ANALYTICAL REPRESENTATION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01" name="CustomShape 3"/>
          <p:cNvSpPr/>
          <p:nvPr/>
        </p:nvSpPr>
        <p:spPr>
          <a:xfrm>
            <a:off x="4018680" y="567000"/>
            <a:ext cx="412380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Feature Engineering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02" name="CustomShape 4"/>
          <p:cNvSpPr/>
          <p:nvPr/>
        </p:nvSpPr>
        <p:spPr>
          <a:xfrm>
            <a:off x="1274040" y="1325880"/>
            <a:ext cx="1017720" cy="2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42232"/>
                </a:solidFill>
                <a:latin typeface="Calibri"/>
              </a:rPr>
              <a:t>Day Type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3" name="CustomShape 5"/>
          <p:cNvSpPr/>
          <p:nvPr/>
        </p:nvSpPr>
        <p:spPr>
          <a:xfrm>
            <a:off x="3859560" y="1325880"/>
            <a:ext cx="1973160" cy="2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Weekend vs Weekday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4" name="CustomShape 6"/>
          <p:cNvSpPr/>
          <p:nvPr/>
        </p:nvSpPr>
        <p:spPr>
          <a:xfrm>
            <a:off x="8408520" y="1325880"/>
            <a:ext cx="13788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17d"/>
                </a:solidFill>
                <a:latin typeface="Calibri"/>
              </a:rPr>
              <a:t>Source: weekday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5" name="CustomShape 7"/>
          <p:cNvSpPr/>
          <p:nvPr/>
        </p:nvSpPr>
        <p:spPr>
          <a:xfrm>
            <a:off x="1019520" y="2167200"/>
            <a:ext cx="1526760" cy="2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42232"/>
                </a:solidFill>
                <a:latin typeface="Calibri"/>
              </a:rPr>
              <a:t>Hour Category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6" name="CustomShape 8"/>
          <p:cNvSpPr/>
          <p:nvPr/>
        </p:nvSpPr>
        <p:spPr>
          <a:xfrm>
            <a:off x="3233880" y="2167200"/>
            <a:ext cx="3224520" cy="2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Night / Morning / Afternoon / Evening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7" name="CustomShape 9"/>
          <p:cNvSpPr/>
          <p:nvPr/>
        </p:nvSpPr>
        <p:spPr>
          <a:xfrm>
            <a:off x="8647920" y="2167200"/>
            <a:ext cx="90036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17d"/>
                </a:solidFill>
                <a:latin typeface="Calibri"/>
              </a:rPr>
              <a:t>Source: hr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08" name="CustomShape 10"/>
          <p:cNvSpPr/>
          <p:nvPr/>
        </p:nvSpPr>
        <p:spPr>
          <a:xfrm>
            <a:off x="1019520" y="3008520"/>
            <a:ext cx="1526760" cy="2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42232"/>
                </a:solidFill>
                <a:latin typeface="Calibri"/>
              </a:rPr>
              <a:t>Weather Label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9" name="CustomShape 11"/>
          <p:cNvSpPr/>
          <p:nvPr/>
        </p:nvSpPr>
        <p:spPr>
          <a:xfrm>
            <a:off x="3782520" y="3008520"/>
            <a:ext cx="2127240" cy="2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Clear / Mist / Rain-Snow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0" name="CustomShape 12"/>
          <p:cNvSpPr/>
          <p:nvPr/>
        </p:nvSpPr>
        <p:spPr>
          <a:xfrm>
            <a:off x="8349840" y="3008520"/>
            <a:ext cx="149616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17d"/>
                </a:solidFill>
                <a:latin typeface="Calibri"/>
              </a:rPr>
              <a:t>Source: weathersit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1" name="CustomShape 13"/>
          <p:cNvSpPr/>
          <p:nvPr/>
        </p:nvSpPr>
        <p:spPr>
          <a:xfrm>
            <a:off x="860040" y="3849480"/>
            <a:ext cx="1845360" cy="2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42232"/>
                </a:solidFill>
                <a:latin typeface="Calibri"/>
              </a:rPr>
              <a:t>Demand Category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2" name="CustomShape 14"/>
          <p:cNvSpPr/>
          <p:nvPr/>
        </p:nvSpPr>
        <p:spPr>
          <a:xfrm>
            <a:off x="3918240" y="3849480"/>
            <a:ext cx="1855800" cy="2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High / Medium / Low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3" name="CustomShape 15"/>
          <p:cNvSpPr/>
          <p:nvPr/>
        </p:nvSpPr>
        <p:spPr>
          <a:xfrm>
            <a:off x="8610480" y="3849480"/>
            <a:ext cx="9752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17d"/>
                </a:solidFill>
                <a:latin typeface="Calibri"/>
              </a:rPr>
              <a:t>Source: cnt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CustomShape 16"/>
          <p:cNvSpPr/>
          <p:nvPr/>
        </p:nvSpPr>
        <p:spPr>
          <a:xfrm>
            <a:off x="1288440" y="4690800"/>
            <a:ext cx="988920" cy="2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300" spc="-1" strike="noStrike">
                <a:solidFill>
                  <a:srgbClr val="142232"/>
                </a:solidFill>
                <a:latin typeface="Calibri"/>
              </a:rPr>
              <a:t>User Mix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5" name="CustomShape 17"/>
          <p:cNvSpPr/>
          <p:nvPr/>
        </p:nvSpPr>
        <p:spPr>
          <a:xfrm>
            <a:off x="3898080" y="4690800"/>
            <a:ext cx="1895760" cy="287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Casual vs Registered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6" name="CustomShape 18"/>
          <p:cNvSpPr/>
          <p:nvPr/>
        </p:nvSpPr>
        <p:spPr>
          <a:xfrm>
            <a:off x="8357400" y="4690800"/>
            <a:ext cx="148104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17d"/>
                </a:solidFill>
                <a:latin typeface="Calibri"/>
              </a:rPr>
              <a:t>Source: user fields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7" name="CustomShape 19"/>
          <p:cNvSpPr/>
          <p:nvPr/>
        </p:nvSpPr>
        <p:spPr>
          <a:xfrm>
            <a:off x="928800" y="5623560"/>
            <a:ext cx="8852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23827d"/>
                </a:solidFill>
                <a:latin typeface="Calibri"/>
              </a:rPr>
              <a:t>Purpose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18" name="CustomShape 20"/>
          <p:cNvSpPr/>
          <p:nvPr/>
        </p:nvSpPr>
        <p:spPr>
          <a:xfrm>
            <a:off x="2570040" y="5577840"/>
            <a:ext cx="756936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Convert raw codes into interpretable segments so demand can be compared consistently.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9" name="CustomShape 21"/>
          <p:cNvSpPr/>
          <p:nvPr/>
        </p:nvSpPr>
        <p:spPr>
          <a:xfrm>
            <a:off x="4994640" y="6510600"/>
            <a:ext cx="22262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6/15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CustomShape 2"/>
          <p:cNvSpPr/>
          <p:nvPr/>
        </p:nvSpPr>
        <p:spPr>
          <a:xfrm>
            <a:off x="4714200" y="255960"/>
            <a:ext cx="18180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06 | TEMPORAL ANALYSIS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22" name="CustomShape 3"/>
          <p:cNvSpPr/>
          <p:nvPr/>
        </p:nvSpPr>
        <p:spPr>
          <a:xfrm>
            <a:off x="4370760" y="567000"/>
            <a:ext cx="341964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Demand by Hour</a:t>
            </a:r>
            <a:endParaRPr b="0" lang="en-IN" sz="2700" spc="-1" strike="noStrike">
              <a:latin typeface="Arial"/>
            </a:endParaRPr>
          </a:p>
        </p:txBody>
      </p:sp>
      <p:graphicFrame>
        <p:nvGraphicFramePr>
          <p:cNvPr id="123" name="Chart 4"/>
          <p:cNvGraphicFramePr/>
          <p:nvPr/>
        </p:nvGraphicFramePr>
        <p:xfrm>
          <a:off x="640080" y="1234440"/>
          <a:ext cx="7314840" cy="448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24" name="CustomShape 4"/>
          <p:cNvSpPr/>
          <p:nvPr/>
        </p:nvSpPr>
        <p:spPr>
          <a:xfrm>
            <a:off x="8229600" y="1417320"/>
            <a:ext cx="2925720" cy="114264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17:00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Peak hour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highest total demand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25" name="CustomShape 5"/>
          <p:cNvSpPr/>
          <p:nvPr/>
        </p:nvSpPr>
        <p:spPr>
          <a:xfrm>
            <a:off x="8229600" y="2788920"/>
            <a:ext cx="2925720" cy="114264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6,169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Peak volume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rentals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26" name="CustomShape 6"/>
          <p:cNvSpPr/>
          <p:nvPr/>
        </p:nvSpPr>
        <p:spPr>
          <a:xfrm>
            <a:off x="8229600" y="4251960"/>
            <a:ext cx="3017160" cy="1625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25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250" spc="-1" strike="noStrike">
                <a:solidFill>
                  <a:srgbClr val="1e2630"/>
                </a:solidFill>
                <a:latin typeface="Calibri"/>
              </a:rPr>
              <a:t>Demand is strongly time-dependent.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25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250" spc="-1" strike="noStrike">
                <a:solidFill>
                  <a:srgbClr val="1e2630"/>
                </a:solidFill>
                <a:latin typeface="Calibri"/>
              </a:rPr>
              <a:t>Morning and evening periods form high-demand windows.</a:t>
            </a:r>
            <a:endParaRPr b="0" lang="en-IN" sz="125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25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250" spc="-1" strike="noStrike">
                <a:solidFill>
                  <a:srgbClr val="1e2630"/>
                </a:solidFill>
                <a:latin typeface="Calibri"/>
              </a:rPr>
              <a:t>Hour should be treated as a primary operational planning variable.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27" name="CustomShape 7"/>
          <p:cNvSpPr/>
          <p:nvPr/>
        </p:nvSpPr>
        <p:spPr>
          <a:xfrm>
            <a:off x="4994640" y="6510600"/>
            <a:ext cx="22262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7/15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CustomShape 2"/>
          <p:cNvSpPr/>
          <p:nvPr/>
        </p:nvSpPr>
        <p:spPr>
          <a:xfrm>
            <a:off x="4512600" y="255960"/>
            <a:ext cx="222156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07 | ENVIRONMENTAL ANALYSIS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0" name="CustomShape 3"/>
          <p:cNvSpPr/>
          <p:nvPr/>
        </p:nvSpPr>
        <p:spPr>
          <a:xfrm>
            <a:off x="3485160" y="567000"/>
            <a:ext cx="519048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Weather &amp; Season Effects</a:t>
            </a:r>
            <a:endParaRPr b="0" lang="en-IN" sz="2700" spc="-1" strike="noStrike">
              <a:latin typeface="Arial"/>
            </a:endParaRPr>
          </a:p>
        </p:txBody>
      </p:sp>
      <p:graphicFrame>
        <p:nvGraphicFramePr>
          <p:cNvPr id="131" name="Chart 4"/>
          <p:cNvGraphicFramePr/>
          <p:nvPr/>
        </p:nvGraphicFramePr>
        <p:xfrm>
          <a:off x="640080" y="1325880"/>
          <a:ext cx="5394600" cy="429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32" name="Chart 5"/>
          <p:cNvGraphicFramePr/>
          <p:nvPr/>
        </p:nvGraphicFramePr>
        <p:xfrm>
          <a:off x="6309360" y="1325880"/>
          <a:ext cx="5120280" cy="429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3" name="CustomShape 4"/>
          <p:cNvSpPr/>
          <p:nvPr/>
        </p:nvSpPr>
        <p:spPr>
          <a:xfrm>
            <a:off x="1489680" y="5715000"/>
            <a:ext cx="360396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85f87"/>
                </a:solidFill>
                <a:latin typeface="Calibri"/>
              </a:rPr>
              <a:t>Clear-weather average: 61.7 rentals/record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CustomShape 5"/>
          <p:cNvSpPr/>
          <p:nvPr/>
        </p:nvSpPr>
        <p:spPr>
          <a:xfrm>
            <a:off x="4994640" y="6510600"/>
            <a:ext cx="22262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8/15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6" name="CustomShape 2"/>
          <p:cNvSpPr/>
          <p:nvPr/>
        </p:nvSpPr>
        <p:spPr>
          <a:xfrm>
            <a:off x="4686840" y="255960"/>
            <a:ext cx="187272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08 | CUSTOMER BEHAVIOR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7" name="CustomShape 3"/>
          <p:cNvSpPr/>
          <p:nvPr/>
        </p:nvSpPr>
        <p:spPr>
          <a:xfrm>
            <a:off x="4129200" y="567000"/>
            <a:ext cx="390276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User Segmentation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38" name="CustomShape 4"/>
          <p:cNvSpPr/>
          <p:nvPr/>
        </p:nvSpPr>
        <p:spPr>
          <a:xfrm>
            <a:off x="822960" y="1417320"/>
            <a:ext cx="2925720" cy="123408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4,921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Casual rentals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observed total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39" name="CustomShape 5"/>
          <p:cNvSpPr/>
          <p:nvPr/>
        </p:nvSpPr>
        <p:spPr>
          <a:xfrm>
            <a:off x="3886200" y="1417320"/>
            <a:ext cx="2925720" cy="123408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53,383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Registered rentals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observed total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0" name="CustomShape 6"/>
          <p:cNvSpPr/>
          <p:nvPr/>
        </p:nvSpPr>
        <p:spPr>
          <a:xfrm>
            <a:off x="6949440" y="1417320"/>
            <a:ext cx="2925720" cy="123408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91.6%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Registered share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of total demand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41" name="CustomShape 7"/>
          <p:cNvSpPr/>
          <p:nvPr/>
        </p:nvSpPr>
        <p:spPr>
          <a:xfrm>
            <a:off x="914400" y="3383280"/>
            <a:ext cx="9875160" cy="151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630"/>
                </a:solidFill>
                <a:latin typeface="Calibri"/>
              </a:rPr>
              <a:t>Registered users contribute the majority of rental volume in the analyzed data.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630"/>
                </a:solidFill>
                <a:latin typeface="Calibri"/>
              </a:rPr>
              <a:t>Hourly demand patterns should be interpreted by user segment because usage behavior can differ.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600" spc="-1" strike="noStrike">
                <a:solidFill>
                  <a:srgbClr val="1e2630"/>
                </a:solidFill>
                <a:latin typeface="Calibri"/>
              </a:rPr>
              <a:t>Segment-level demand can support differentiated planning, availability and retention analysis.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42" name="CustomShape 8"/>
          <p:cNvSpPr/>
          <p:nvPr/>
        </p:nvSpPr>
        <p:spPr>
          <a:xfrm>
            <a:off x="4994640" y="6510600"/>
            <a:ext cx="222624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9/15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CustomShape 2"/>
          <p:cNvSpPr/>
          <p:nvPr/>
        </p:nvSpPr>
        <p:spPr>
          <a:xfrm>
            <a:off x="4750920" y="255960"/>
            <a:ext cx="174456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09 | CALENDAR EFFECTS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5" name="CustomShape 3"/>
          <p:cNvSpPr/>
          <p:nvPr/>
        </p:nvSpPr>
        <p:spPr>
          <a:xfrm>
            <a:off x="2238480" y="567000"/>
            <a:ext cx="768384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Weekday, Weekend &amp; Holiday Patterns</a:t>
            </a:r>
            <a:endParaRPr b="0" lang="en-IN" sz="2700" spc="-1" strike="noStrike">
              <a:latin typeface="Arial"/>
            </a:endParaRPr>
          </a:p>
        </p:txBody>
      </p:sp>
      <p:graphicFrame>
        <p:nvGraphicFramePr>
          <p:cNvPr id="146" name="Chart 4"/>
          <p:cNvGraphicFramePr/>
          <p:nvPr/>
        </p:nvGraphicFramePr>
        <p:xfrm>
          <a:off x="685800" y="1325880"/>
          <a:ext cx="6674760" cy="429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7" name="CustomShape 4"/>
          <p:cNvSpPr/>
          <p:nvPr/>
        </p:nvSpPr>
        <p:spPr>
          <a:xfrm>
            <a:off x="7818120" y="1417320"/>
            <a:ext cx="3062880" cy="109692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63.3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Weekday average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8" name="CustomShape 5"/>
          <p:cNvSpPr/>
          <p:nvPr/>
        </p:nvSpPr>
        <p:spPr>
          <a:xfrm>
            <a:off x="7818120" y="2743200"/>
            <a:ext cx="3062880" cy="109692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48.1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Weekend average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49" name="CustomShape 6"/>
          <p:cNvSpPr/>
          <p:nvPr/>
        </p:nvSpPr>
        <p:spPr>
          <a:xfrm>
            <a:off x="7818120" y="4069080"/>
            <a:ext cx="3062880" cy="109692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41.7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Holiday average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0" name="CustomShape 7"/>
          <p:cNvSpPr/>
          <p:nvPr/>
        </p:nvSpPr>
        <p:spPr>
          <a:xfrm>
            <a:off x="175320" y="5715000"/>
            <a:ext cx="1171944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285f87"/>
                </a:solidFill>
                <a:latin typeface="Calibri"/>
              </a:rPr>
              <a:t>Observed: weekday demand is higher than weekend demand, while holiday demand is lower than non-holiday demand in this sample.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51" name="CustomShape 8"/>
          <p:cNvSpPr/>
          <p:nvPr/>
        </p:nvSpPr>
        <p:spPr>
          <a:xfrm>
            <a:off x="4961880" y="6510600"/>
            <a:ext cx="22917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10/15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3" name="CustomShape 2"/>
          <p:cNvSpPr/>
          <p:nvPr/>
        </p:nvSpPr>
        <p:spPr>
          <a:xfrm>
            <a:off x="4421160" y="255960"/>
            <a:ext cx="240444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10 | QUANTIFYING RELATIONSHIPS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4" name="CustomShape 3"/>
          <p:cNvSpPr/>
          <p:nvPr/>
        </p:nvSpPr>
        <p:spPr>
          <a:xfrm>
            <a:off x="4145040" y="567000"/>
            <a:ext cx="387072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Statistical Analysis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55" name="CustomShape 4"/>
          <p:cNvSpPr/>
          <p:nvPr/>
        </p:nvSpPr>
        <p:spPr>
          <a:xfrm>
            <a:off x="731520" y="1325880"/>
            <a:ext cx="255996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58.3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Mean demand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rentals / record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6" name="CustomShape 5"/>
          <p:cNvSpPr/>
          <p:nvPr/>
        </p:nvSpPr>
        <p:spPr>
          <a:xfrm>
            <a:off x="3566160" y="1325880"/>
            <a:ext cx="255996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51.0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Demand SD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variability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7" name="CustomShape 6"/>
          <p:cNvSpPr/>
          <p:nvPr/>
        </p:nvSpPr>
        <p:spPr>
          <a:xfrm>
            <a:off x="6400800" y="1325880"/>
            <a:ext cx="255996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1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Minimum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rentals / record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8" name="CustomShape 7"/>
          <p:cNvSpPr/>
          <p:nvPr/>
        </p:nvSpPr>
        <p:spPr>
          <a:xfrm>
            <a:off x="9235440" y="1325880"/>
            <a:ext cx="219420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249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Maximum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rentals / record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59" name="CustomShape 8"/>
          <p:cNvSpPr/>
          <p:nvPr/>
        </p:nvSpPr>
        <p:spPr>
          <a:xfrm>
            <a:off x="984960" y="2971800"/>
            <a:ext cx="2327040" cy="31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500" spc="-1" strike="noStrike">
                <a:solidFill>
                  <a:srgbClr val="23827d"/>
                </a:solidFill>
                <a:latin typeface="Calibri"/>
              </a:rPr>
              <a:t>Correlation analysis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0" name="CustomShape 9"/>
          <p:cNvSpPr/>
          <p:nvPr/>
        </p:nvSpPr>
        <p:spPr>
          <a:xfrm>
            <a:off x="1228320" y="3429000"/>
            <a:ext cx="3212280" cy="146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142232"/>
                </a:solidFill>
                <a:latin typeface="Calibri"/>
              </a:rPr>
              <a:t>Temperature ↔ demand</a:t>
            </a:r>
            <a:br/>
            <a:r>
              <a:rPr b="1" lang="en-US" sz="1800" spc="-1" strike="noStrike">
                <a:solidFill>
                  <a:srgbClr val="142232"/>
                </a:solidFill>
                <a:latin typeface="Calibri"/>
              </a:rPr>
              <a:t>r = 0.23</a:t>
            </a:r>
            <a:br/>
            <a:br/>
            <a:r>
              <a:rPr b="1" lang="en-US" sz="1800" spc="-1" strike="noStrike">
                <a:solidFill>
                  <a:srgbClr val="142232"/>
                </a:solidFill>
                <a:latin typeface="Calibri"/>
              </a:rPr>
              <a:t>Humidity ↔ demand</a:t>
            </a:r>
            <a:br/>
            <a:r>
              <a:rPr b="1" lang="en-US" sz="1800" spc="-1" strike="noStrike">
                <a:solidFill>
                  <a:srgbClr val="142232"/>
                </a:solidFill>
                <a:latin typeface="Calibri"/>
              </a:rPr>
              <a:t>r = -0.25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61" name="CustomShape 10"/>
          <p:cNvSpPr/>
          <p:nvPr/>
        </p:nvSpPr>
        <p:spPr>
          <a:xfrm>
            <a:off x="5257800" y="3200400"/>
            <a:ext cx="5577480" cy="1434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Temperature shows a positive association with demand.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Humidity shows a weaker inverse association.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Correlation measures association, not causation; multiple drivers operate simultaneously.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2" name="CustomShape 11"/>
          <p:cNvSpPr/>
          <p:nvPr/>
        </p:nvSpPr>
        <p:spPr>
          <a:xfrm>
            <a:off x="4961880" y="6510600"/>
            <a:ext cx="22917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11/15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36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4" name="CustomShape 2"/>
          <p:cNvSpPr/>
          <p:nvPr/>
        </p:nvSpPr>
        <p:spPr>
          <a:xfrm>
            <a:off x="4419360" y="255960"/>
            <a:ext cx="240768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11 | FORWARD-LOOKING ANALYSIS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65" name="CustomShape 3"/>
          <p:cNvSpPr/>
          <p:nvPr/>
        </p:nvSpPr>
        <p:spPr>
          <a:xfrm>
            <a:off x="3876120" y="567000"/>
            <a:ext cx="440856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Forecasting Approach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66" name="CustomShape 4"/>
          <p:cNvSpPr/>
          <p:nvPr/>
        </p:nvSpPr>
        <p:spPr>
          <a:xfrm>
            <a:off x="777240" y="1325880"/>
            <a:ext cx="6400440" cy="1536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Aggregate hourly records into daily total demand.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Fit a linear trend to the available daily observations.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Generate a next-day baseline from the fitted trend.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With more history, evaluate stronger time-series models and back-test their accuracy.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67" name="CustomShape 5"/>
          <p:cNvSpPr/>
          <p:nvPr/>
        </p:nvSpPr>
        <p:spPr>
          <a:xfrm>
            <a:off x="7726680" y="1463040"/>
            <a:ext cx="329148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45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Daily observations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available dates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8" name="CustomShape 6"/>
          <p:cNvSpPr/>
          <p:nvPr/>
        </p:nvSpPr>
        <p:spPr>
          <a:xfrm>
            <a:off x="7726680" y="2880360"/>
            <a:ext cx="329148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1,382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Next-day baseline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rentals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69" name="CustomShape 7"/>
          <p:cNvSpPr/>
          <p:nvPr/>
        </p:nvSpPr>
        <p:spPr>
          <a:xfrm>
            <a:off x="7941600" y="4480560"/>
            <a:ext cx="13986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23827d"/>
                </a:solidFill>
                <a:latin typeface="Calibri"/>
              </a:rPr>
              <a:t>Interpretation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0" name="CustomShape 8"/>
          <p:cNvSpPr/>
          <p:nvPr/>
        </p:nvSpPr>
        <p:spPr>
          <a:xfrm>
            <a:off x="5904000" y="4846320"/>
            <a:ext cx="597528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1e2630"/>
                </a:solidFill>
                <a:latin typeface="Calibri"/>
              </a:rPr>
              <a:t>A directional planning signal; not sufficient alone for production forecasting.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71" name="CustomShape 9"/>
          <p:cNvSpPr/>
          <p:nvPr/>
        </p:nvSpPr>
        <p:spPr>
          <a:xfrm>
            <a:off x="4961880" y="6510600"/>
            <a:ext cx="22917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12/15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CustomShape 2"/>
          <p:cNvSpPr/>
          <p:nvPr/>
        </p:nvSpPr>
        <p:spPr>
          <a:xfrm>
            <a:off x="4305960" y="255960"/>
            <a:ext cx="263484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12 | MONITORING AND REPEATABILITY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74" name="CustomShape 3"/>
          <p:cNvSpPr/>
          <p:nvPr/>
        </p:nvSpPr>
        <p:spPr>
          <a:xfrm>
            <a:off x="2754360" y="567000"/>
            <a:ext cx="665208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Anomaly Detection &amp; Automation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75" name="CustomShape 4"/>
          <p:cNvSpPr/>
          <p:nvPr/>
        </p:nvSpPr>
        <p:spPr>
          <a:xfrm>
            <a:off x="777240" y="1325880"/>
            <a:ext cx="292572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|Z| ≥ 3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Anomaly rule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statistical threshold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76" name="CustomShape 5"/>
          <p:cNvSpPr/>
          <p:nvPr/>
        </p:nvSpPr>
        <p:spPr>
          <a:xfrm>
            <a:off x="3977640" y="1325880"/>
            <a:ext cx="292572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0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Flagged points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daily observations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77" name="CustomShape 6"/>
          <p:cNvSpPr/>
          <p:nvPr/>
        </p:nvSpPr>
        <p:spPr>
          <a:xfrm>
            <a:off x="7178040" y="1325880"/>
            <a:ext cx="2925720" cy="1188360"/>
          </a:xfrm>
          <a:prstGeom prst="roundRect">
            <a:avLst>
              <a:gd name="adj" fmla="val 16667"/>
            </a:avLst>
          </a:prstGeom>
          <a:solidFill>
            <a:srgbClr val="f3f7f9"/>
          </a:solidFill>
          <a:ln>
            <a:solidFill>
              <a:srgbClr val="dae1e7"/>
            </a:solidFill>
            <a:round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200" spc="-1" strike="noStrike">
                <a:solidFill>
                  <a:srgbClr val="285f87"/>
                </a:solidFill>
                <a:latin typeface="Calibri"/>
              </a:rPr>
              <a:t>2 macros</a:t>
            </a:r>
            <a:endParaRPr b="0" lang="en-IN" sz="2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n-US" sz="900" spc="-1" strike="noStrike">
                <a:solidFill>
                  <a:srgbClr val="1e2630"/>
                </a:solidFill>
                <a:latin typeface="Calibri"/>
              </a:rPr>
              <a:t>Automation</a:t>
            </a:r>
            <a:endParaRPr b="0" lang="en-IN" sz="9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LibreOffice Basic</a:t>
            </a:r>
            <a:endParaRPr b="0" lang="en-IN" sz="800" spc="-1" strike="noStrike">
              <a:latin typeface="Arial"/>
            </a:endParaRPr>
          </a:p>
        </p:txBody>
      </p:sp>
      <p:sp>
        <p:nvSpPr>
          <p:cNvPr id="178" name="CustomShape 7"/>
          <p:cNvSpPr/>
          <p:nvPr/>
        </p:nvSpPr>
        <p:spPr>
          <a:xfrm>
            <a:off x="822960" y="3154680"/>
            <a:ext cx="9966600" cy="130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Z-score screening flags unusually high or low daily demand relative to the observed distribution.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Macro 1 automated the check that casual + registered equals total demand.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Macro 2 automated High / Medium / Low demand classification using average-demand thresholds.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1e2630"/>
                </a:solidFill>
                <a:latin typeface="Calibri"/>
              </a:rPr>
              <a:t>Automation made repetitive validation and classification repeatable.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79" name="CustomShape 8"/>
          <p:cNvSpPr/>
          <p:nvPr/>
        </p:nvSpPr>
        <p:spPr>
          <a:xfrm>
            <a:off x="1238040" y="5715000"/>
            <a:ext cx="959328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64717d"/>
                </a:solidFill>
                <a:latin typeface="Calibri"/>
              </a:rPr>
              <a:t>An anomaly identifies unusualness, not cause. Investigation should combine the flag with weather, calendar and data-quality context.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0" name="CustomShape 9"/>
          <p:cNvSpPr/>
          <p:nvPr/>
        </p:nvSpPr>
        <p:spPr>
          <a:xfrm>
            <a:off x="4961880" y="6510600"/>
            <a:ext cx="22917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13/15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2" name="CustomShape 2"/>
          <p:cNvSpPr/>
          <p:nvPr/>
        </p:nvSpPr>
        <p:spPr>
          <a:xfrm>
            <a:off x="4694400" y="255960"/>
            <a:ext cx="1857600" cy="227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900" spc="-1" strike="noStrike">
                <a:solidFill>
                  <a:srgbClr val="23827d"/>
                </a:solidFill>
                <a:latin typeface="Calibri"/>
              </a:rPr>
              <a:t>13 | EVIDENCE SYNTHESIS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3" name="CustomShape 3"/>
          <p:cNvSpPr/>
          <p:nvPr/>
        </p:nvSpPr>
        <p:spPr>
          <a:xfrm>
            <a:off x="4746240" y="567000"/>
            <a:ext cx="2668320" cy="50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700" spc="-1" strike="noStrike">
                <a:solidFill>
                  <a:srgbClr val="142232"/>
                </a:solidFill>
                <a:latin typeface="Calibri"/>
              </a:rPr>
              <a:t>Key Findings</a:t>
            </a:r>
            <a:endParaRPr b="0" lang="en-IN" sz="2700" spc="-1" strike="noStrike">
              <a:latin typeface="Arial"/>
            </a:endParaRPr>
          </a:p>
        </p:txBody>
      </p:sp>
      <p:sp>
        <p:nvSpPr>
          <p:cNvPr id="184" name="CustomShape 4"/>
          <p:cNvSpPr/>
          <p:nvPr/>
        </p:nvSpPr>
        <p:spPr>
          <a:xfrm>
            <a:off x="1408680" y="1234440"/>
            <a:ext cx="56520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3827d"/>
                </a:solidFill>
                <a:latin typeface="Calibri"/>
              </a:rPr>
              <a:t>TIME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5" name="CustomShape 5"/>
          <p:cNvSpPr/>
          <p:nvPr/>
        </p:nvSpPr>
        <p:spPr>
          <a:xfrm>
            <a:off x="3572280" y="1234440"/>
            <a:ext cx="629676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Demand is highly time-dependent, with the highest total volume at 17:00.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6" name="CustomShape 6"/>
          <p:cNvSpPr/>
          <p:nvPr/>
        </p:nvSpPr>
        <p:spPr>
          <a:xfrm>
            <a:off x="1218240" y="1984320"/>
            <a:ext cx="94608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3827d"/>
                </a:solidFill>
                <a:latin typeface="Calibri"/>
              </a:rPr>
              <a:t>WEATHER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7" name="CustomShape 7"/>
          <p:cNvSpPr/>
          <p:nvPr/>
        </p:nvSpPr>
        <p:spPr>
          <a:xfrm>
            <a:off x="3303000" y="1984320"/>
            <a:ext cx="683496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Clear conditions show higher average demand than adverse-weather categories.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8" name="CustomShape 8"/>
          <p:cNvSpPr/>
          <p:nvPr/>
        </p:nvSpPr>
        <p:spPr>
          <a:xfrm>
            <a:off x="1341000" y="2734200"/>
            <a:ext cx="70092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3827d"/>
                </a:solidFill>
                <a:latin typeface="Calibri"/>
              </a:rPr>
              <a:t>USERS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9" name="CustomShape 9"/>
          <p:cNvSpPr/>
          <p:nvPr/>
        </p:nvSpPr>
        <p:spPr>
          <a:xfrm>
            <a:off x="4390560" y="2734200"/>
            <a:ext cx="466020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Registered users represent 91.6% of observed rentals.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0" name="CustomShape 10"/>
          <p:cNvSpPr/>
          <p:nvPr/>
        </p:nvSpPr>
        <p:spPr>
          <a:xfrm>
            <a:off x="1177200" y="3483720"/>
            <a:ext cx="102852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3827d"/>
                </a:solidFill>
                <a:latin typeface="Calibri"/>
              </a:rPr>
              <a:t>CALENDAR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1" name="CustomShape 11"/>
          <p:cNvSpPr/>
          <p:nvPr/>
        </p:nvSpPr>
        <p:spPr>
          <a:xfrm>
            <a:off x="2694240" y="3483720"/>
            <a:ext cx="805248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Weekday demand exceeds weekend demand; holiday demand is lower in the observed sample.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2" name="CustomShape 12"/>
          <p:cNvSpPr/>
          <p:nvPr/>
        </p:nvSpPr>
        <p:spPr>
          <a:xfrm>
            <a:off x="1017000" y="4233600"/>
            <a:ext cx="134856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3827d"/>
                </a:solidFill>
                <a:latin typeface="Calibri"/>
              </a:rPr>
              <a:t>ENVIRONMENT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3" name="CustomShape 13"/>
          <p:cNvSpPr/>
          <p:nvPr/>
        </p:nvSpPr>
        <p:spPr>
          <a:xfrm>
            <a:off x="4011840" y="4233600"/>
            <a:ext cx="541764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Temperature has a positive association with demand (r = 0.23).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4" name="CustomShape 14"/>
          <p:cNvSpPr/>
          <p:nvPr/>
        </p:nvSpPr>
        <p:spPr>
          <a:xfrm>
            <a:off x="1082520" y="4983480"/>
            <a:ext cx="1217520" cy="257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100" spc="-1" strike="noStrike">
                <a:solidFill>
                  <a:srgbClr val="23827d"/>
                </a:solidFill>
                <a:latin typeface="Calibri"/>
              </a:rPr>
              <a:t>MONITORING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95" name="CustomShape 15"/>
          <p:cNvSpPr/>
          <p:nvPr/>
        </p:nvSpPr>
        <p:spPr>
          <a:xfrm>
            <a:off x="3262680" y="4983480"/>
            <a:ext cx="6915600" cy="288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1e2630"/>
                </a:solidFill>
                <a:latin typeface="Calibri"/>
              </a:rPr>
              <a:t>Daily aggregation and anomaly screening provide a repeatable monitoring signal.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6" name="CustomShape 16"/>
          <p:cNvSpPr/>
          <p:nvPr/>
        </p:nvSpPr>
        <p:spPr>
          <a:xfrm>
            <a:off x="4961880" y="6510600"/>
            <a:ext cx="22917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14/15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CustomShape 1"/>
          <p:cNvSpPr/>
          <p:nvPr/>
        </p:nvSpPr>
        <p:spPr>
          <a:xfrm>
            <a:off x="360" y="360"/>
            <a:ext cx="12191400" cy="6857640"/>
          </a:xfrm>
          <a:prstGeom prst="rect">
            <a:avLst/>
          </a:prstGeom>
          <a:solidFill>
            <a:srgbClr val="142232"/>
          </a:solidFill>
          <a:ln>
            <a:noFill/>
          </a:ln>
          <a:effectLst>
            <a:outerShdw blurRad="4000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8" name="CustomShape 2"/>
          <p:cNvSpPr/>
          <p:nvPr/>
        </p:nvSpPr>
        <p:spPr>
          <a:xfrm>
            <a:off x="1235160" y="365760"/>
            <a:ext cx="1644120" cy="24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000" spc="-1" strike="noStrike">
                <a:solidFill>
                  <a:srgbClr val="73c3be"/>
                </a:solidFill>
                <a:latin typeface="Calibri"/>
              </a:rPr>
              <a:t>RECOMMENDATIONS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9" name="CustomShape 3"/>
          <p:cNvSpPr/>
          <p:nvPr/>
        </p:nvSpPr>
        <p:spPr>
          <a:xfrm>
            <a:off x="3205440" y="713160"/>
            <a:ext cx="5018400" cy="532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2900" spc="-1" strike="noStrike">
                <a:solidFill>
                  <a:srgbClr val="ffffff"/>
                </a:solidFill>
                <a:latin typeface="Calibri"/>
              </a:rPr>
              <a:t>From analysis to action</a:t>
            </a:r>
            <a:endParaRPr b="0" lang="en-IN" sz="2900" spc="-1" strike="noStrike">
              <a:latin typeface="Arial"/>
            </a:endParaRPr>
          </a:p>
        </p:txBody>
      </p:sp>
      <p:sp>
        <p:nvSpPr>
          <p:cNvPr id="200" name="CustomShape 4"/>
          <p:cNvSpPr/>
          <p:nvPr/>
        </p:nvSpPr>
        <p:spPr>
          <a:xfrm>
            <a:off x="777240" y="1508760"/>
            <a:ext cx="6766200" cy="242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Plan availability and redistribution around recurring peak hours.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Use weather forecasts as a short-term demand-planning input.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Separate weekday, weekend and holiday operating assumptions.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Monitor casual and registered users separately.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Investigate anomalies before treating them as genuine demand shocks.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799"/>
              </a:spcAf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•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</a:rPr>
              <a:t>Next step: expand the time horizon and evaluate stronger forecasting models.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1" name="CustomShape 5"/>
          <p:cNvSpPr/>
          <p:nvPr/>
        </p:nvSpPr>
        <p:spPr>
          <a:xfrm>
            <a:off x="360000" y="4767120"/>
            <a:ext cx="1240200" cy="27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rgbClr val="73c3be"/>
                </a:solidFill>
                <a:latin typeface="Calibri"/>
              </a:rPr>
              <a:t>Tooling note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02" name="CustomShape 6"/>
          <p:cNvSpPr/>
          <p:nvPr/>
        </p:nvSpPr>
        <p:spPr>
          <a:xfrm>
            <a:off x="337320" y="5112000"/>
            <a:ext cx="9454680" cy="485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The project was completed using LibreOffice Calc and Google Sheets because Microsoft Excel was not available. 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LibreOffice Basic macros were used for automation.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3" name="CustomShape 7"/>
          <p:cNvSpPr/>
          <p:nvPr/>
        </p:nvSpPr>
        <p:spPr>
          <a:xfrm>
            <a:off x="4961880" y="6510600"/>
            <a:ext cx="2291760" cy="211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800" spc="-1" strike="noStrike">
                <a:solidFill>
                  <a:srgbClr val="64717d"/>
                </a:solidFill>
                <a:latin typeface="Calibri"/>
              </a:rPr>
              <a:t>Bike Sharing Demand Analysis   •   15/15</a:t>
            </a:r>
            <a:endParaRPr b="0" lang="en-IN" sz="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LibreOffice/6.4.7.2$Linux_X86_64 LibreOffice_project/40$Build-2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2026-09-29T06:45:46Z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